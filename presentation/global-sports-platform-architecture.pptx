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10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291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9FC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SPORTS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Архитектура спортивной платформы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450592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rgbClr val="D7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Бизнес-цели</a:t>
            </a:r>
            <a:r>
              <a:rPr lang="en-US" sz="1600" dirty="0">
                <a:solidFill>
                  <a:srgbClr val="D7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риски, архитектурное решение, roadmap и TCO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Sports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Бизнес-цели решения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84124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465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Мы строим не просто трекер тренировок, а глобальную спортивную платформу, которая связывает тренировки, сообщество и экосистему бренда.</a:t>
            </a:r>
            <a:endParaRPr lang="en-US" sz="1400" dirty="0">
              <a:solidFill>
                <a:srgbClr val="465A7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865376"/>
            <a:ext cx="685800" cy="310896"/>
          </a:xfrm>
          <a:prstGeom prst="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BG-01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48716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Вовлечённость</a:t>
            </a:r>
            <a:endParaRPr lang="en-US" sz="1500" b="1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Мотивировать пользователей регулярно тренироваться и видеть прогресс.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29000" y="1865376"/>
            <a:ext cx="685800" cy="310896"/>
          </a:xfrm>
          <a:prstGeom prst="rect">
            <a:avLst/>
          </a:prstGeom>
          <a:solidFill>
            <a:srgbClr val="E7F7F0"/>
          </a:solidFill>
          <a:ln>
            <a:solidFill>
              <a:srgbClr val="E7F7F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9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BG-02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29000" y="2240280"/>
            <a:ext cx="248716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Сообщества</a:t>
            </a:r>
            <a:endParaRPr lang="en-US" sz="1500" b="1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Создать группы, совместные тренировки и социальное влияние.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1865376"/>
            <a:ext cx="685800" cy="310896"/>
          </a:xfrm>
          <a:prstGeom prst="rect">
            <a:avLst/>
          </a:prstGeom>
          <a:solidFill>
            <a:srgbClr val="FFF4E0"/>
          </a:solidFill>
          <a:ln>
            <a:solidFill>
              <a:srgbClr val="FFF4E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8C1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BG-03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0" y="2240280"/>
            <a:ext cx="248716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Лояльность</a:t>
            </a:r>
            <a:endParaRPr lang="en-US" sz="1500" b="1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Связать спортивный контекст с продуктами, новостями и промо.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006840" y="1865376"/>
            <a:ext cx="685800" cy="310896"/>
          </a:xfrm>
          <a:prstGeom prst="rect">
            <a:avLst/>
          </a:prstGeom>
          <a:solidFill>
            <a:srgbClr val="F0EBFF"/>
          </a:solidFill>
          <a:ln>
            <a:solidFill>
              <a:srgbClr val="F0EBFF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857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BG-04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006840" y="2240280"/>
            <a:ext cx="248716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ru-RU" sz="1600" b="1" dirty="0"/>
              <a:t>Эффективное расширение</a:t>
            </a:r>
            <a:br>
              <a:rPr lang="ru-RU" sz="1600" dirty="0"/>
            </a:br>
            <a:r>
              <a:rPr lang="ru-RU" sz="1600" dirty="0"/>
              <a:t>Выходить в новые регионы, подключать виды спорта и устройства без полной переработки платформы.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solidFill>
            <a:srgbClr val="0F2B46"/>
          </a:solidFill>
          <a:ln w="12700">
            <a:solidFill>
              <a:srgbClr val="0F2B46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Инвестиционный смысл: начать с ядра — тренировок и прогресса — затем расширять платформу до социальных механик, персонализации и коммерческой интеграции.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Sports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Главные вызовы и ответ архитектуры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3154680" cy="347472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Вызов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572768"/>
            <a:ext cx="3154680" cy="347472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Архитектурный ответ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909560" y="1572768"/>
            <a:ext cx="3154680" cy="347472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Бизнес-эффект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98424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Массовые соревнования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97680" y="198424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Event-driven обработка и независимое масштабирование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909560" y="198424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Пики нагрузки не ломают основной сценарий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85800" y="2852928"/>
            <a:ext cx="3154680" cy="566928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Нестабильный интернет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97680" y="2852928"/>
            <a:ext cx="3154680" cy="566928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Offline-first запись тренировки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909560" y="2852928"/>
            <a:ext cx="3154680" cy="566928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Пользователь не теряет результат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72160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Много устройств и API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297680" y="372160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Integration Layer и внутренняя модель данных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909560" y="372160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Можно добавлять новых поставщиков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4590288"/>
            <a:ext cx="3154680" cy="566928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Геолокация и приватность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297680" y="4590288"/>
            <a:ext cx="3154680" cy="566928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by Design и consent 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909560" y="4590288"/>
            <a:ext cx="3154680" cy="566928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Снижение юридических и репутационных рисков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45896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Глобальный рост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297680" y="545896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Региональное развитие и CDN по мере необходимости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909560" y="5458968"/>
            <a:ext cx="31546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Нет преждевременных затрат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Sports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Архитектурное решение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6070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465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Критичный путь сохраняет тренировку быстро и надёжно. Всё вторичное — аналитика, достижения, уведомления — выполняется асинхронно.</a:t>
            </a:r>
            <a:endParaRPr lang="en-US" sz="1400" dirty="0">
              <a:solidFill>
                <a:srgbClr val="465A7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88101" y="1848851"/>
            <a:ext cx="19385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63D6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App</a:t>
            </a:r>
            <a:endParaRPr lang="en-US" sz="1350" dirty="0"/>
          </a:p>
          <a:p>
            <a:pPr marL="0" indent="0" algn="ctr">
              <a:buNone/>
            </a:pP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старт тренировки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offline storage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sync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14335" y="26263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38839" y="1874520"/>
            <a:ext cx="19385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63D6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Gateway</a:t>
            </a:r>
            <a:endParaRPr lang="en-US" sz="1350" dirty="0"/>
          </a:p>
          <a:p>
            <a:pPr marL="0" indent="0" algn="ctr">
              <a:buNone/>
            </a:pP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единая точка входа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auth/rate limit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920464" y="26334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286224" y="1874520"/>
            <a:ext cx="19385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9A68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Platform</a:t>
            </a:r>
            <a:endParaRPr lang="en-US" sz="1350" dirty="0"/>
          </a:p>
          <a:p>
            <a:pPr marL="0" indent="0" algn="ctr">
              <a:buNone/>
            </a:pP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Profile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Training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Social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Planning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Equipment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05938" y="2626360"/>
            <a:ext cx="33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899622" y="1908249"/>
            <a:ext cx="1955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8C10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Async Capabilities</a:t>
            </a:r>
            <a:endParaRPr lang="en-US" sz="1350" dirty="0"/>
          </a:p>
          <a:p>
            <a:pPr marL="0" indent="0" algn="ctr">
              <a:buNone/>
            </a:pP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Analytics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Gamification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Notifications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Recommendations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97280" y="4617720"/>
            <a:ext cx="10012680" cy="658368"/>
          </a:xfrm>
          <a:prstGeom prst="rect">
            <a:avLst/>
          </a:prstGeom>
          <a:solidFill>
            <a:srgbClr val="0F2B46"/>
          </a:solidFill>
          <a:ln w="12700">
            <a:solidFill>
              <a:srgbClr val="0F2B4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Integration Layer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Wearables • Mobile Fitness APIs • Existing Company Applications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5669280"/>
            <a:ext cx="10789920" cy="475488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Принцип: основной сценарий “записать тренировку” изолирован от вторичных функций. Если аналитика или уведомления временно недоступны, тренировка всё равно сохраняется.</a:t>
            </a:r>
            <a:endParaRPr lang="en-US" sz="125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B563B4-2AC2-4DA1-8CAB-16E203962879}"/>
              </a:ext>
            </a:extLst>
          </p:cNvPr>
          <p:cNvSpPr txBox="1"/>
          <p:nvPr/>
        </p:nvSpPr>
        <p:spPr>
          <a:xfrm>
            <a:off x="9540087" y="2547859"/>
            <a:ext cx="3175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ru-RU" sz="2000" b="1" dirty="0">
                <a:solidFill>
                  <a:srgbClr val="1E63D6"/>
                </a:solidFill>
                <a:latin typeface="Aptos"/>
              </a:rPr>
              <a:t>→</a:t>
            </a: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C114E2E9-34DF-0690-FD4C-C5C80C5DA12E}"/>
              </a:ext>
            </a:extLst>
          </p:cNvPr>
          <p:cNvSpPr/>
          <p:nvPr/>
        </p:nvSpPr>
        <p:spPr>
          <a:xfrm>
            <a:off x="7584287" y="1878526"/>
            <a:ext cx="1955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8C10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102033"/>
                </a:solidFill>
                <a:latin typeface="Aptos"/>
              </a:rPr>
              <a:t>Reliable Event Delivery</a:t>
            </a:r>
          </a:p>
          <a:p>
            <a:pPr algn="ctr"/>
            <a:endParaRPr lang="en-US" sz="1400" dirty="0">
              <a:solidFill>
                <a:srgbClr val="102033"/>
              </a:solidFill>
              <a:latin typeface="Aptos"/>
            </a:endParaRPr>
          </a:p>
          <a:p>
            <a:pPr algn="ctr"/>
            <a:r>
              <a:rPr lang="en-US" sz="1400" dirty="0">
                <a:solidFill>
                  <a:srgbClr val="102033"/>
                </a:solidFill>
                <a:latin typeface="Aptos"/>
              </a:rPr>
              <a:t>Transactional Outbox</a:t>
            </a:r>
          </a:p>
          <a:p>
            <a:pPr algn="ctr"/>
            <a:r>
              <a:rPr lang="en-US" sz="1400" dirty="0">
                <a:solidFill>
                  <a:srgbClr val="102033"/>
                </a:solidFill>
                <a:latin typeface="Aptos"/>
              </a:rPr>
              <a:t>        ↓</a:t>
            </a:r>
          </a:p>
          <a:p>
            <a:pPr algn="ctr"/>
            <a:r>
              <a:rPr lang="en-US" sz="1400" dirty="0">
                <a:solidFill>
                  <a:srgbClr val="102033"/>
                </a:solidFill>
                <a:latin typeface="Aptos"/>
              </a:rPr>
              <a:t>Event Bus</a:t>
            </a:r>
            <a:endParaRPr lang="ru-RU" sz="1400" dirty="0">
              <a:solidFill>
                <a:srgbClr val="10203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Sports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Риски и компромиссы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996696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465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Мы не скрываем цену выбранной архитектуры: основные риски управляемы, если развивать систему поэтапно.</a:t>
            </a:r>
            <a:endParaRPr lang="en-US" sz="1400" dirty="0">
              <a:solidFill>
                <a:srgbClr val="465A7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2057400" cy="384048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Риск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737360"/>
            <a:ext cx="3291840" cy="384048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Компромисс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0" y="1737360"/>
            <a:ext cx="5074920" cy="384048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Как снижаем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267712"/>
            <a:ext cx="2057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Сложность распределённой системы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2267712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Больше сервисов — сложнее диагностика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0" y="2267712"/>
            <a:ext cx="5074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Крупные доменные границы, observability, стандарты CI/CD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200400"/>
            <a:ext cx="2057400" cy="822960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Eventual consistency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34640" y="3200400"/>
            <a:ext cx="3291840" cy="822960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Некоторые данные обновляются с задержкой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3200400"/>
            <a:ext cx="5074920" cy="822960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Критичный путь синхронный; вторичные процессы через события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2057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Приватность геоданных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4133088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Социальный поиск требует данных о локации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4133088"/>
            <a:ext cx="5074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Opt-in, privacy settings, минимальная точность, аудит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065776"/>
            <a:ext cx="2057400" cy="822960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Стоимость multi-region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5065776"/>
            <a:ext cx="3291840" cy="822960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Высокая доступность дороже и сложнее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5065776"/>
            <a:ext cx="5074920" cy="822960"/>
          </a:xfrm>
          <a:prstGeom prst="rect">
            <a:avLst/>
          </a:prstGeom>
          <a:solidFill>
            <a:srgbClr val="FBFCFE"/>
          </a:solidFill>
          <a:ln w="12700">
            <a:solidFill>
              <a:srgbClr val="D6DEE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Начать с одного региона; усложнять после подтверждения нагрузки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6199632"/>
            <a:ext cx="10607040" cy="411480"/>
          </a:xfrm>
          <a:prstGeom prst="rect">
            <a:avLst/>
          </a:prstGeom>
          <a:solidFill>
            <a:srgbClr val="0F2B46"/>
          </a:solidFill>
          <a:ln w="12700">
            <a:solidFill>
              <a:srgbClr val="0F2B4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Главный компромисс: мы выбираем архитектуру, готовую к росту, но не внедряем самые дорогие механизмы до появления реальной нагрузки.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Sports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План развития продукта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2412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465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Развитие идёт от MVP к полноценной экосистеме. Это снижает риск построить дорогую платформу до проверки спроса.</a:t>
            </a:r>
            <a:endParaRPr lang="en-US" sz="1400" dirty="0">
              <a:solidFill>
                <a:srgbClr val="465A7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420624" cy="420624"/>
          </a:xfrm>
          <a:prstGeom prst="rect">
            <a:avLst/>
          </a:prstGeom>
          <a:solidFill>
            <a:srgbClr val="1E63D6"/>
          </a:solidFill>
          <a:ln w="12700">
            <a:solidFill>
              <a:srgbClr val="1E63D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166420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профиль, запись, история, прогресс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2514600" y="1828800"/>
            <a:ext cx="420624" cy="420624"/>
          </a:xfrm>
          <a:prstGeom prst="rect">
            <a:avLst/>
          </a:prstGeom>
          <a:solidFill>
            <a:srgbClr val="1E63D6"/>
          </a:solidFill>
          <a:ln w="12700">
            <a:solidFill>
              <a:srgbClr val="1E63D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14600" y="2377440"/>
            <a:ext cx="166420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Social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друзья, группы, совместные тренировки</a:t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4343400" y="1828800"/>
            <a:ext cx="420624" cy="420624"/>
          </a:xfrm>
          <a:prstGeom prst="rect">
            <a:avLst/>
          </a:prstGeom>
          <a:solidFill>
            <a:srgbClr val="1E63D6"/>
          </a:solidFill>
          <a:ln w="12700">
            <a:solidFill>
              <a:srgbClr val="1E63D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43400" y="2377440"/>
            <a:ext cx="166420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Gamification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achievements, челленджи, рейтинги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6172200" y="1828800"/>
            <a:ext cx="420624" cy="420624"/>
          </a:xfrm>
          <a:prstGeom prst="rect">
            <a:avLst/>
          </a:prstGeom>
          <a:solidFill>
            <a:srgbClr val="1E63D6"/>
          </a:solidFill>
          <a:ln w="12700">
            <a:solidFill>
              <a:srgbClr val="1E63D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72200" y="2377440"/>
            <a:ext cx="166420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Personalization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планы, рекомендации, инвентарь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8001000" y="1828800"/>
            <a:ext cx="420624" cy="420624"/>
          </a:xfrm>
          <a:prstGeom prst="rect">
            <a:avLst/>
          </a:prstGeom>
          <a:solidFill>
            <a:srgbClr val="1E63D6"/>
          </a:solidFill>
          <a:ln w="12700">
            <a:solidFill>
              <a:srgbClr val="1E63D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01000" y="2377440"/>
            <a:ext cx="166420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Commerce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промо, новости, переходы в магазин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9829800" y="1828800"/>
            <a:ext cx="420624" cy="420624"/>
          </a:xfrm>
          <a:prstGeom prst="rect">
            <a:avLst/>
          </a:prstGeom>
          <a:solidFill>
            <a:srgbClr val="1E63D6"/>
          </a:solidFill>
          <a:ln w="12700">
            <a:solidFill>
              <a:srgbClr val="1E63D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829800" y="2377440"/>
            <a:ext cx="166420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Ecosystem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новые устройства, регионы, виды спорта</a:t>
            </a:r>
            <a:endParaRPr lang="en-US" sz="1120" dirty="0"/>
          </a:p>
        </p:txBody>
      </p:sp>
      <p:sp>
        <p:nvSpPr>
          <p:cNvPr id="18" name="Text 16"/>
          <p:cNvSpPr/>
          <p:nvPr/>
        </p:nvSpPr>
        <p:spPr>
          <a:xfrm>
            <a:off x="685800" y="4800600"/>
            <a:ext cx="10698480" cy="868680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 каждом этапе архитектура раскрывается только настолько, насколько этого требует продукт: сначала надёжная запись тренировок, затем социальные механики, затем коммерческая и глобальная экосистема.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E6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Sports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Стоимость владения и итог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1498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465A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Оценка сценарная: исходное задание не задаёт реальные MAU, трафик и SLO, поэтому модель привязана к росту пользователей и тренировок.</a:t>
            </a:r>
            <a:endParaRPr lang="en-US" sz="1400" dirty="0">
              <a:solidFill>
                <a:srgbClr val="465A7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25603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9A68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100k MAU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~$85k / year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730752" y="1828800"/>
            <a:ext cx="25603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8C10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500k MAU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~$290k / year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38544" y="1828800"/>
            <a:ext cx="25603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B74A4A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 MAU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~$1.8m / year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2560320" cy="347472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Основные драйверы затрат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88620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broker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storage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/ CDN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30752" y="3474720"/>
            <a:ext cx="2560320" cy="347472"/>
          </a:xfrm>
          <a:prstGeom prst="rect">
            <a:avLst/>
          </a:prstGeom>
          <a:solidFill>
            <a:srgbClr val="EEF2F6"/>
          </a:solidFill>
          <a:ln w="12700">
            <a:solidFill>
              <a:srgbClr val="D6DE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Как контролируем стоимость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30752" y="388620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1651" tIns="1651" rIns="1651" bIns="1651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autoscaling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архивация данных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CDN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sampling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FinOps review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38544" y="3474720"/>
            <a:ext cx="3611880" cy="347472"/>
          </a:xfrm>
          <a:prstGeom prst="rect">
            <a:avLst/>
          </a:prstGeom>
          <a:solidFill>
            <a:srgbClr val="0F2B46"/>
          </a:solidFill>
          <a:ln w="12700">
            <a:solidFill>
              <a:srgbClr val="0F2B4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Инвестиционный вывод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38544" y="3886200"/>
            <a:ext cx="3611880" cy="1417320"/>
          </a:xfrm>
          <a:prstGeom prst="rect">
            <a:avLst/>
          </a:prstGeom>
          <a:solidFill>
            <a:srgbClr val="0F2B46"/>
          </a:solidFill>
          <a:ln w="12700">
            <a:solidFill>
              <a:srgbClr val="0F2B46"/>
            </a:solidFill>
          </a:ln>
        </p:spPr>
        <p:txBody>
          <a:bodyPr wrap="square" lIns="2032" tIns="2032" rIns="2032" bIns="2032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Решение позволяет начать с умеренной инфраструктуры и масштабировать только те части платформы, где реально растёт нагрузка.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870448"/>
            <a:ext cx="9418320" cy="475488"/>
          </a:xfrm>
          <a:prstGeom prst="rect">
            <a:avLst/>
          </a:prstGeom>
          <a:solidFill>
            <a:srgbClr val="E8F0FF"/>
          </a:solidFill>
          <a:ln w="12700">
            <a:solidFill>
              <a:srgbClr val="E8F0F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Итог: архитектура поддерживает глобальный рост, защищает критичный сценарий записи тренировки и не требует преждевременного multi-region бюджета.</a:t>
            </a:r>
            <a:endParaRPr lang="en-US" sz="135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01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135AD84-F569-450E-AE7D-2A74D39D272A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209168c7-58f1-41ab-8326-324ef80e70f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660</Words>
  <Application>Microsoft Office PowerPoint</Application>
  <PresentationFormat>Широкоэкранный</PresentationFormat>
  <Paragraphs>152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Course final 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Sports Platform Architecture Pitch</dc:title>
  <dc:subject>Global Sports Platform Architecture Pitch</dc:subject>
  <dc:creator>OpenAI</dc:creator>
  <cp:lastModifiedBy>Vladimir Anufriev</cp:lastModifiedBy>
  <cp:revision>8</cp:revision>
  <dcterms:created xsi:type="dcterms:W3CDTF">2026-10-04T19:06:43Z</dcterms:created>
  <dcterms:modified xsi:type="dcterms:W3CDTF">2026-10-04T20:12:29Z</dcterms:modified>
</cp:coreProperties>
</file>